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**What it means**</a:t>
            </a:r>
          </a:p>
          <a:p>
            <a:r>
              <a:t>  - Introduce the session’s three threads: Granite UI Resource trees, field-to-property persistence and safe evolution of stored content.</a:t>
            </a:r>
          </a:p>
          <a:p>
            <a:r>
              <a:t>  - Identify the class, date, presenter and 30-minute scope before following the technical trace.</a:t>
            </a:r>
          </a:p>
          <a:p>
            <a:r>
              <a:t>- **How to present it**</a:t>
            </a:r>
          </a:p>
          <a:p>
            <a:r>
              <a:t>  - Preview one value moving from author input → Sling POST → JCR property → rendered output.</a:t>
            </a:r>
          </a:p>
          <a:p>
            <a:r>
              <a:t>  - Name the three topics without teaching the full pipeline yet.</a:t>
            </a:r>
          </a:p>
          <a:p>
            <a:r>
              <a:t>- **Say explicitly**</a:t>
            </a:r>
          </a:p>
          <a:p>
            <a:r>
              <a:t>  - “The field label is presentation; the field name is storage behavior.”</a:t>
            </a:r>
          </a:p>
          <a:p>
            <a:r>
              <a:t>  - “A dialog that saves once is not enough evidence of a safe content contract.”</a:t>
            </a:r>
          </a:p>
          <a:p>
            <a:r>
              <a:t>- **Ask the group**</a:t>
            </a:r>
          </a:p>
          <a:p>
            <a:r>
              <a:t>  - “Who will still depend on this property name two years from now?”</a:t>
            </a:r>
          </a:p>
          <a:p>
            <a:r>
              <a:t>- **Common confusion**</a:t>
            </a:r>
          </a:p>
          <a:p>
            <a:r>
              <a:t>  - Do not treat the dialog definition itself as the runtime content source.</a:t>
            </a:r>
          </a:p>
          <a:p>
            <a:r>
              <a:t>- **Transition**</a:t>
            </a:r>
          </a:p>
          <a:p>
            <a:r>
              <a:t>  - “First separate the three Resources involved.”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**What it means**</a:t>
            </a:r>
          </a:p>
          <a:p>
            <a:r>
              <a:t>  - `/apps/.../component` defines capability.</a:t>
            </a:r>
          </a:p>
          <a:p>
            <a:r>
              <a:t>  - `/apps/.../component/cq:dialog` defines the editor interface.</a:t>
            </a:r>
          </a:p>
          <a:p>
            <a:r>
              <a:t>  - `/content/.../instance` stores values for one authored use.</a:t>
            </a:r>
          </a:p>
          <a:p>
            <a:r>
              <a:t>- **How to present it**</a:t>
            </a:r>
          </a:p>
          <a:p>
            <a:r>
              <a:t>  - Point to each path and ask who changes it: developer or author.</a:t>
            </a:r>
          </a:p>
          <a:p>
            <a:r>
              <a:t>  - Follow `sling:resourceType` from the content instance back to the implementation.</a:t>
            </a:r>
          </a:p>
          <a:p>
            <a:r>
              <a:t>- **Say explicitly**</a:t>
            </a:r>
          </a:p>
          <a:p>
            <a:r>
              <a:t>  - “HTL reads the authored Resource; it does not read values from `cq:dialog`.”</a:t>
            </a:r>
          </a:p>
          <a:p>
            <a:r>
              <a:t>  - “The dialog controls submission, while stored content controls runtime behavior.”</a:t>
            </a:r>
          </a:p>
          <a:p>
            <a:r>
              <a:t>- **Ask the group**</a:t>
            </a:r>
          </a:p>
          <a:p>
            <a:r>
              <a:t>  - “If the dialog label changes, should existing rendered pages change?”</a:t>
            </a:r>
          </a:p>
          <a:p>
            <a:r>
              <a:t>- **Common confusion**</a:t>
            </a:r>
          </a:p>
          <a:p>
            <a:r>
              <a:t>  - `fieldLabel`, `required` and `emptyText` configure authoring UI; they are not automatically persisted as component values.</a:t>
            </a:r>
          </a:p>
          <a:p>
            <a:r>
              <a:t>- **Transition**</a:t>
            </a:r>
          </a:p>
          <a:p>
            <a:r>
              <a:t>  - “The dialog itself is also rendered from a Sling Resource tree.”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**What it means**</a:t>
            </a:r>
          </a:p>
          <a:p>
            <a:r>
              <a:t>  - Granite UI fields and containers are server-side components selected through `sling:resourceType`.</a:t>
            </a:r>
          </a:p>
          <a:p>
            <a:r>
              <a:t>  - Nested `content/items` nodes describe layout and controls.</a:t>
            </a:r>
          </a:p>
          <a:p>
            <a:r>
              <a:t>- **How to present it**</a:t>
            </a:r>
          </a:p>
          <a:p>
            <a:r>
              <a:t>  - Read the tree from `cq:dialog` to the specific textfield.</a:t>
            </a:r>
          </a:p>
          <a:p>
            <a:r>
              <a:t>  - Separate the field’s component type from its configuration properties.</a:t>
            </a:r>
          </a:p>
          <a:p>
            <a:r>
              <a:t>- **Say explicitly**</a:t>
            </a:r>
          </a:p>
          <a:p>
            <a:r>
              <a:t>  - “We configure a tree of authoring Resources; we do not hand-code the resulting Coral UI markup.”</a:t>
            </a:r>
          </a:p>
          <a:p>
            <a:r>
              <a:t>  - “The field resource type creates the control; properties configure that control.”</a:t>
            </a:r>
          </a:p>
          <a:p>
            <a:r>
              <a:t>- **Ask the group**</a:t>
            </a:r>
          </a:p>
          <a:p>
            <a:r>
              <a:t>  - “Which property changes the stored target, and which property changes only the visible label?”</a:t>
            </a:r>
          </a:p>
          <a:p>
            <a:r>
              <a:t>- **Common confusion**</a:t>
            </a:r>
          </a:p>
          <a:p>
            <a:r>
              <a:t>  - Avoid mixing Granite UI resource types with visitor-facing component resource types.</a:t>
            </a:r>
          </a:p>
          <a:p>
            <a:r>
              <a:t>- **Transition**</a:t>
            </a:r>
          </a:p>
          <a:p>
            <a:r>
              <a:t>  - “The most consequential field property is `name`.”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**What it means**</a:t>
            </a:r>
          </a:p>
          <a:p>
            <a:r>
              <a:t>  - `name="./title"` submits a property relative to the selected component Resource.</a:t>
            </a:r>
          </a:p>
          <a:p>
            <a:r>
              <a:t>  - Sling POST writes `title` on that instance below `/content`.</a:t>
            </a:r>
          </a:p>
          <a:p>
            <a:r>
              <a:t>- **How to present it**</a:t>
            </a:r>
          </a:p>
          <a:p>
            <a:r>
              <a:t>  - Trace the exact string `./title` across dialog definition, request parameter, stored property and HTL expression.</a:t>
            </a:r>
          </a:p>
          <a:p>
            <a:r>
              <a:t>  - Show where the dot-slash resolves; do not describe it as a global repository path.</a:t>
            </a:r>
          </a:p>
          <a:p>
            <a:r>
              <a:t>- **Say explicitly**</a:t>
            </a:r>
          </a:p>
          <a:p>
            <a:r>
              <a:t>  - “The name is relative to the form’s target Resource.”</a:t>
            </a:r>
          </a:p>
          <a:p>
            <a:r>
              <a:t>  - “The authored value is stored beside `sling:resourceType`, not under `/apps`.”</a:t>
            </a:r>
          </a:p>
          <a:p>
            <a:r>
              <a:t>- **Ask the group**</a:t>
            </a:r>
          </a:p>
          <a:p>
            <a:r>
              <a:t>  - “What exact property should appear after saving ‘My first AEM project’?”</a:t>
            </a:r>
          </a:p>
          <a:p>
            <a:r>
              <a:t>- **Evidence to show**</a:t>
            </a:r>
          </a:p>
          <a:p>
            <a:r>
              <a:t>  - Dialog field definition.</a:t>
            </a:r>
          </a:p>
          <a:p>
            <a:r>
              <a:t>  - POST parameter in Network tools when practical.</a:t>
            </a:r>
          </a:p>
          <a:p>
            <a:r>
              <a:t>  - JCR property on the instance.</a:t>
            </a:r>
          </a:p>
          <a:p>
            <a:r>
              <a:t>  - HTL or model consumer.</a:t>
            </a:r>
          </a:p>
          <a:p>
            <a:r>
              <a:t>- **Transition**</a:t>
            </a:r>
          </a:p>
          <a:p>
            <a:r>
              <a:t>  - “Because code depends on that name, renaming it is a schema change.”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**What it means**</a:t>
            </a:r>
          </a:p>
          <a:p>
            <a:r>
              <a:t>  - Changing `./title` to `./heading` affects future saves only.</a:t>
            </a:r>
          </a:p>
          <a:p>
            <a:r>
              <a:t>  - Existing content continues storing `title` until explicitly migrated or re-authored.</a:t>
            </a:r>
          </a:p>
          <a:p>
            <a:r>
              <a:t>- **How to present it**</a:t>
            </a:r>
          </a:p>
          <a:p>
            <a:r>
              <a:t>  - Compare Page A before and after deployment; keep the old property visible.</a:t>
            </a:r>
          </a:p>
          <a:p>
            <a:r>
              <a:t>  - Then show the safe sequence: read new → fallback old → migrate → remove fallback after verification.</a:t>
            </a:r>
          </a:p>
          <a:p>
            <a:r>
              <a:t>- **Say explicitly**</a:t>
            </a:r>
          </a:p>
          <a:p>
            <a:r>
              <a:t>  - “Deploying a new dialog does not rewrite stored content.”</a:t>
            </a:r>
          </a:p>
          <a:p>
            <a:r>
              <a:t>  - “A silent field rename can make valid legacy content appear empty.”</a:t>
            </a:r>
          </a:p>
          <a:p>
            <a:r>
              <a:t>- **Ask the group**</a:t>
            </a:r>
          </a:p>
          <a:p>
            <a:r>
              <a:t>  - “What would fail if the new HTL reads only `heading`?”</a:t>
            </a:r>
          </a:p>
          <a:p>
            <a:r>
              <a:t>- **Common migration cases**</a:t>
            </a:r>
          </a:p>
          <a:p>
            <a:r>
              <a:t>  - Rename a property.</a:t>
            </a:r>
          </a:p>
          <a:p>
            <a:r>
              <a:t>  - Change scalar to multi-value.</a:t>
            </a:r>
          </a:p>
          <a:p>
            <a:r>
              <a:t>  - Move a property into a child Resource.</a:t>
            </a:r>
          </a:p>
          <a:p>
            <a:r>
              <a:t>  - Change the expected type or format.</a:t>
            </a:r>
          </a:p>
          <a:p>
            <a:r>
              <a:t>- **Transition**</a:t>
            </a:r>
          </a:p>
          <a:p>
            <a:r>
              <a:t>  - “Dialog validation helps new authoring, but it cannot guarantee old content.”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**What it means**</a:t>
            </a:r>
          </a:p>
          <a:p>
            <a:r>
              <a:t>  - `required`, `maxlength`, labels and validators improve the current authoring path.</a:t>
            </a:r>
          </a:p>
          <a:p>
            <a:r>
              <a:t>  - Stored content may bypass those controls or predate them.</a:t>
            </a:r>
          </a:p>
          <a:p>
            <a:r>
              <a:t>- **How to present it**</a:t>
            </a:r>
          </a:p>
          <a:p>
            <a:r>
              <a:t>  - Separate authoring-time prevention from runtime resilience.</a:t>
            </a:r>
          </a:p>
          <a:p>
            <a:r>
              <a:t>  - Give three bypass examples: old content, package import and API/tooling.</a:t>
            </a:r>
          </a:p>
          <a:p>
            <a:r>
              <a:t>- **Say explicitly**</a:t>
            </a:r>
          </a:p>
          <a:p>
            <a:r>
              <a:t>  - “Dialog validation is not a repository constraint.”</a:t>
            </a:r>
          </a:p>
          <a:p>
            <a:r>
              <a:t>  - “Authenticated author input is still runtime input and must be handled safely.”</a:t>
            </a:r>
          </a:p>
          <a:p>
            <a:r>
              <a:t>- **Ask the group**</a:t>
            </a:r>
          </a:p>
          <a:p>
            <a:r>
              <a:t>  - “Can the runtime assume `required=true` has always been enforced?”</a:t>
            </a:r>
          </a:p>
          <a:p>
            <a:r>
              <a:t>- **Common confusion**</a:t>
            </a:r>
          </a:p>
          <a:p>
            <a:r>
              <a:t>  - A mandatory UI field does not make model injection safely mandatory for every existing Resource.</a:t>
            </a:r>
          </a:p>
          <a:p>
            <a:r>
              <a:t>- **Transition**</a:t>
            </a:r>
          </a:p>
          <a:p>
            <a:r>
              <a:t>  - “The acceptance cases must therefore include configured, legacy and empty content.”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**What it means**</a:t>
            </a:r>
          </a:p>
          <a:p>
            <a:r>
              <a:t>  - Configured state uses the current property.</a:t>
            </a:r>
          </a:p>
          <a:p>
            <a:r>
              <a:t>  - Legacy state uses a temporary compatibility path.</a:t>
            </a:r>
          </a:p>
          <a:p>
            <a:r>
              <a:t>  - Empty state renders safe visitor output while remaining selectable in author mode.</a:t>
            </a:r>
          </a:p>
          <a:p>
            <a:r>
              <a:t>- **How to present it**</a:t>
            </a:r>
          </a:p>
          <a:p>
            <a:r>
              <a:t>  - Walk one matrix row at a time from stored properties to rendered result.</a:t>
            </a:r>
          </a:p>
          <a:p>
            <a:r>
              <a:t>  - Ask the group to predict the output before revealing it.</a:t>
            </a:r>
          </a:p>
          <a:p>
            <a:r>
              <a:t>- **Say explicitly**</a:t>
            </a:r>
          </a:p>
          <a:p>
            <a:r>
              <a:t>  - “Visitor safety and author usability are different empty-state requirements.”</a:t>
            </a:r>
          </a:p>
          <a:p>
            <a:r>
              <a:t>  - “A placeholder can appear in edit mode without leaking meaningless markup to Publish.”</a:t>
            </a:r>
          </a:p>
          <a:p>
            <a:r>
              <a:t>- **Evidence to request**</a:t>
            </a:r>
          </a:p>
          <a:p>
            <a:r>
              <a:t>  - Stored current/legacy properties.</a:t>
            </a:r>
          </a:p>
          <a:p>
            <a:r>
              <a:t>  - Resolution or fallback rule.</a:t>
            </a:r>
          </a:p>
          <a:p>
            <a:r>
              <a:t>  - Author placeholder.</a:t>
            </a:r>
          </a:p>
          <a:p>
            <a:r>
              <a:t>  - Visitor DOM without empty heading or broken control.</a:t>
            </a:r>
          </a:p>
          <a:p>
            <a:r>
              <a:t>- **Common confusion**</a:t>
            </a:r>
          </a:p>
          <a:p>
            <a:r>
              <a:t>  - Do not verify only the configured happy path.</a:t>
            </a:r>
          </a:p>
          <a:p>
            <a:r>
              <a:t>- **Transition**</a:t>
            </a:r>
          </a:p>
          <a:p>
            <a:r>
              <a:t>  - “These states summarize the complete storage contract.”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completes the session. Thank the audience and leave the floor open for questions they want to raise. Do not introduce review prompts or another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